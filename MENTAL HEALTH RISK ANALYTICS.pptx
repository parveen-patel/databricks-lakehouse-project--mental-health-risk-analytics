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6" r:id="rId2"/>
    <p:sldId id="257" r:id="rId3"/>
    <p:sldId id="265" r:id="rId4"/>
    <p:sldId id="266" r:id="rId5"/>
    <p:sldId id="267" r:id="rId6"/>
    <p:sldId id="258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1667" autoAdjust="0"/>
  </p:normalViewPr>
  <p:slideViewPr>
    <p:cSldViewPr snapToGrid="0">
      <p:cViewPr varScale="1">
        <p:scale>
          <a:sx n="60" d="100"/>
          <a:sy n="60" d="100"/>
        </p:scale>
        <p:origin x="114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746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41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454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03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78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9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82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6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42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638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46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046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74ABF6B1-3A9A-4CEE-889E-0D96AB03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C8EBD892-00C5-4507-BFE3-9601A24FB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2DFE34E-1712-75AE-F40F-26074B40D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20" r="9051" b="-4"/>
          <a:stretch>
            <a:fillRect/>
          </a:stretch>
        </p:blipFill>
        <p:spPr>
          <a:xfrm>
            <a:off x="8035903" y="1507957"/>
            <a:ext cx="3722959" cy="26727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6DA751-612E-F09F-ECE9-444B406553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4" r="12233" b="3"/>
          <a:stretch>
            <a:fillRect/>
          </a:stretch>
        </p:blipFill>
        <p:spPr>
          <a:xfrm>
            <a:off x="433138" y="1507958"/>
            <a:ext cx="3541420" cy="2648650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531BC1D-41F6-43D0-8437-608E6D83F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156386"/>
            <a:ext cx="105959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CB919BE-2F1F-B0EF-1956-85EF3DAB2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021" y="336885"/>
            <a:ext cx="10776311" cy="513158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MENTAL HEALTH RISK ANALYTICS</a:t>
            </a:r>
            <a:endParaRPr lang="en-IN" dirty="0"/>
          </a:p>
        </p:txBody>
      </p:sp>
      <p:sp>
        <p:nvSpPr>
          <p:cNvPr id="20" name="AutoShape 8">
            <a:extLst>
              <a:ext uri="{FF2B5EF4-FFF2-40B4-BE49-F238E27FC236}">
                <a16:creationId xmlns:a16="http://schemas.microsoft.com/office/drawing/2014/main" id="{58C1C8F6-6778-F05F-033F-FF0F499C9E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0034F95-9867-75EC-539F-B340D047C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7830" y="1173873"/>
            <a:ext cx="3993914" cy="295819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C87249C-2247-692F-1008-42C168DD96A5}"/>
              </a:ext>
            </a:extLst>
          </p:cNvPr>
          <p:cNvSpPr txBox="1"/>
          <p:nvPr/>
        </p:nvSpPr>
        <p:spPr>
          <a:xfrm>
            <a:off x="433138" y="4314307"/>
            <a:ext cx="113257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Data Engineering | Lakehouse Architecture | Delta Optimization | Governance | Analytics | Machine Learning | AI Storytelling | Social Impact</a:t>
            </a:r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73E9EA21-5187-7CC3-913F-535B1A0A26B3}"/>
              </a:ext>
            </a:extLst>
          </p:cNvPr>
          <p:cNvSpPr/>
          <p:nvPr/>
        </p:nvSpPr>
        <p:spPr>
          <a:xfrm>
            <a:off x="8031745" y="5626168"/>
            <a:ext cx="390358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>
                    <a:lumMod val="20000"/>
                    <a:lumOff val="80000"/>
                  </a:schemeClr>
                </a:solidFill>
                <a:ea typeface="Arial" pitchFamily="34" charset="-122"/>
                <a:cs typeface="Arial" pitchFamily="34" charset="-120"/>
              </a:rPr>
              <a:t>Engineered by: PARVEEN PATEL</a:t>
            </a:r>
          </a:p>
          <a:p>
            <a:endParaRPr lang="en-US" sz="2000" b="1" dirty="0">
              <a:solidFill>
                <a:schemeClr val="accent2">
                  <a:lumMod val="20000"/>
                  <a:lumOff val="80000"/>
                </a:schemeClr>
              </a:solidFill>
              <a:cs typeface="Arial" pitchFamily="34" charset="-120"/>
            </a:endParaRPr>
          </a:p>
          <a:p>
            <a:r>
              <a:rPr lang="en-US" sz="2000" b="1" dirty="0">
                <a:solidFill>
                  <a:schemeClr val="accent2">
                    <a:lumMod val="20000"/>
                    <a:lumOff val="80000"/>
                  </a:schemeClr>
                </a:solidFill>
                <a:cs typeface="Arial" pitchFamily="34" charset="-120"/>
              </a:rPr>
              <a:t>Role: Data Enthusiast</a:t>
            </a:r>
            <a:endParaRPr lang="en-US" sz="20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265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49BBC-1E3B-6ED8-3A7D-2550447D8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714" y="896112"/>
            <a:ext cx="10691265" cy="1307592"/>
          </a:xfrm>
        </p:spPr>
        <p:txBody>
          <a:bodyPr/>
          <a:lstStyle/>
          <a:p>
            <a:r>
              <a:rPr lang="en-IN" dirty="0"/>
              <a:t>Problem Definition: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0D5BA-6457-F7C7-196D-BFA7B8B90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021" y="1876927"/>
            <a:ext cx="10691265" cy="4197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j-lt"/>
              </a:rPr>
              <a:t>Predict mental health risk (anxiety/depression severity) based on social media behavior and lifestyle patterns and understand how risk factors differ between males and females.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b="1" dirty="0">
                <a:latin typeface="+mj-lt"/>
              </a:rPr>
              <a:t>Why AI (Not Rules)?    </a:t>
            </a:r>
            <a:r>
              <a:rPr lang="en-US" dirty="0">
                <a:latin typeface="+mj-lt"/>
              </a:rPr>
              <a:t>Because:</a:t>
            </a:r>
          </a:p>
          <a:p>
            <a:r>
              <a:rPr lang="en-US" dirty="0">
                <a:latin typeface="+mj-lt"/>
              </a:rPr>
              <a:t>Mental health risk is influenced by </a:t>
            </a:r>
            <a:r>
              <a:rPr lang="en-US" b="1" dirty="0">
                <a:latin typeface="+mj-lt"/>
              </a:rPr>
              <a:t>multiple interacting factors.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Simple thresholds (like “screen time &gt; 6 hrs.”) miss complex relationships</a:t>
            </a:r>
          </a:p>
          <a:p>
            <a:r>
              <a:rPr lang="en-US" dirty="0">
                <a:latin typeface="+mj-lt"/>
              </a:rPr>
              <a:t>ML can learn </a:t>
            </a:r>
            <a:r>
              <a:rPr lang="en-US" b="1" dirty="0">
                <a:latin typeface="+mj-lt"/>
              </a:rPr>
              <a:t>nonlinear patterns</a:t>
            </a:r>
            <a:r>
              <a:rPr lang="en-US" dirty="0">
                <a:latin typeface="+mj-lt"/>
              </a:rPr>
              <a:t> between sleep, usage time, content type, and psychometric scores.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9337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4DFA5-B0A9-3044-CDAE-181C93D37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753979"/>
            <a:ext cx="10691265" cy="753979"/>
          </a:xfrm>
        </p:spPr>
        <p:txBody>
          <a:bodyPr>
            <a:normAutofit fontScale="90000"/>
          </a:bodyPr>
          <a:lstStyle/>
          <a:p>
            <a:r>
              <a:rPr lang="en-IN" dirty="0"/>
              <a:t>Data Understanding &amp; Feature Engineering: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1AA11-EEFB-1137-D60C-5D8821429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1828800"/>
            <a:ext cx="10691265" cy="5350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Data Understanding:</a:t>
            </a:r>
          </a:p>
          <a:p>
            <a:r>
              <a:rPr lang="en-US" dirty="0">
                <a:latin typeface="+mj-lt"/>
              </a:rPr>
              <a:t>The dataset represents </a:t>
            </a:r>
            <a:r>
              <a:rPr lang="en-US" b="1" dirty="0">
                <a:latin typeface="+mj-lt"/>
              </a:rPr>
              <a:t>8,000 social media users</a:t>
            </a:r>
            <a:r>
              <a:rPr lang="en-US" dirty="0">
                <a:latin typeface="+mj-lt"/>
              </a:rPr>
              <a:t> with detailed digital behavior and mental health indicators.</a:t>
            </a:r>
          </a:p>
          <a:p>
            <a:r>
              <a:rPr lang="en-US" dirty="0">
                <a:latin typeface="+mj-lt"/>
              </a:rPr>
              <a:t>Each record combines:</a:t>
            </a:r>
          </a:p>
          <a:p>
            <a:pPr lvl="1"/>
            <a:r>
              <a:rPr lang="en-US" sz="2000" b="1" dirty="0">
                <a:latin typeface="+mj-lt"/>
              </a:rPr>
              <a:t>Demographics</a:t>
            </a:r>
            <a:r>
              <a:rPr lang="en-US" sz="2000" dirty="0">
                <a:latin typeface="+mj-lt"/>
              </a:rPr>
              <a:t> (Age, Gender)</a:t>
            </a:r>
          </a:p>
          <a:p>
            <a:pPr lvl="1"/>
            <a:r>
              <a:rPr lang="en-US" sz="2000" b="1" dirty="0">
                <a:latin typeface="+mj-lt"/>
              </a:rPr>
              <a:t>Usage behavior</a:t>
            </a:r>
            <a:r>
              <a:rPr lang="en-US" sz="2000" dirty="0">
                <a:latin typeface="+mj-lt"/>
              </a:rPr>
              <a:t> (screen time, activity type, late-night usage)</a:t>
            </a:r>
          </a:p>
          <a:p>
            <a:pPr lvl="1"/>
            <a:r>
              <a:rPr lang="en-US" sz="2000" b="1" dirty="0">
                <a:latin typeface="+mj-lt"/>
              </a:rPr>
              <a:t>Psychometric scores</a:t>
            </a:r>
            <a:r>
              <a:rPr lang="en-US" sz="2000" dirty="0">
                <a:latin typeface="+mj-lt"/>
              </a:rPr>
              <a:t> (GAD-7 for anxiety, PHQ-9 for depression)</a:t>
            </a:r>
          </a:p>
          <a:p>
            <a:r>
              <a:rPr lang="en-US" dirty="0">
                <a:latin typeface="+mj-lt"/>
              </a:rPr>
              <a:t>The data is </a:t>
            </a:r>
            <a:r>
              <a:rPr lang="en-US" b="1" dirty="0">
                <a:latin typeface="+mj-lt"/>
              </a:rPr>
              <a:t>synthetic but scientifically grounded</a:t>
            </a:r>
            <a:r>
              <a:rPr lang="en-US" dirty="0">
                <a:latin typeface="+mj-lt"/>
              </a:rPr>
              <a:t>, generated using psychological research patterns.</a:t>
            </a:r>
          </a:p>
          <a:p>
            <a:r>
              <a:rPr lang="en-US" dirty="0">
                <a:latin typeface="+mj-lt"/>
              </a:rPr>
              <a:t>Designed specifically for </a:t>
            </a:r>
            <a:r>
              <a:rPr lang="en-US" b="1" dirty="0">
                <a:latin typeface="+mj-lt"/>
              </a:rPr>
              <a:t>gender-based comparative analysis</a:t>
            </a:r>
            <a:r>
              <a:rPr lang="en-US" dirty="0">
                <a:latin typeface="+mj-lt"/>
              </a:rPr>
              <a:t> and behavioral risk modeling.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1567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0B2E7-EA98-BCE6-13B6-600EDA783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1115085"/>
            <a:ext cx="10691265" cy="530175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Key observations from raw data:</a:t>
            </a:r>
            <a:endParaRPr lang="en-US" dirty="0"/>
          </a:p>
          <a:p>
            <a:r>
              <a:rPr lang="en-US" dirty="0"/>
              <a:t>Mental health impact is </a:t>
            </a:r>
            <a:r>
              <a:rPr lang="en-US" b="1" dirty="0"/>
              <a:t>behavior-driven</a:t>
            </a:r>
            <a:r>
              <a:rPr lang="en-US" dirty="0"/>
              <a:t>, not caused by a single variable.</a:t>
            </a:r>
          </a:p>
          <a:p>
            <a:r>
              <a:rPr lang="en-US" dirty="0"/>
              <a:t>Late-night usage and reduced sleep appear frequently with higher depression scores.</a:t>
            </a:r>
          </a:p>
          <a:p>
            <a:r>
              <a:rPr lang="en-US" dirty="0"/>
              <a:t>Passive content consumption and social comparison are common anxiety triggers.</a:t>
            </a:r>
          </a:p>
          <a:p>
            <a:endParaRPr lang="en-US" dirty="0"/>
          </a:p>
          <a:p>
            <a:r>
              <a:rPr lang="en-US" b="1" dirty="0"/>
              <a:t>Feature Engineering (Silver Layer) : </a:t>
            </a:r>
            <a:r>
              <a:rPr lang="en-US" dirty="0"/>
              <a:t>Cleaned raw data by: Removing duplicates and handling missing values in critical numerical fields.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2429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BF437-6FD2-6B9E-270C-1E9F47A50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786063"/>
            <a:ext cx="10691265" cy="850232"/>
          </a:xfrm>
        </p:spPr>
        <p:txBody>
          <a:bodyPr>
            <a:noAutofit/>
          </a:bodyPr>
          <a:lstStyle/>
          <a:p>
            <a:r>
              <a:rPr lang="en-US" sz="2800" dirty="0"/>
              <a:t>Created </a:t>
            </a:r>
            <a:r>
              <a:rPr lang="en-US" sz="2800" b="1" dirty="0"/>
              <a:t>behavioral risk features</a:t>
            </a:r>
            <a:r>
              <a:rPr lang="en-US" sz="2800" dirty="0"/>
              <a:t> to translate raw usage into meaningful signals:</a:t>
            </a:r>
            <a:br>
              <a:rPr lang="en-US" sz="2800" dirty="0"/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0FCB6-5FD2-3F63-D88C-69C7D0F10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1876927"/>
            <a:ext cx="10691265" cy="4981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Engineered Features:</a:t>
            </a:r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High_Screen_Time: </a:t>
            </a:r>
            <a:r>
              <a:rPr lang="en-US" dirty="0">
                <a:latin typeface="+mj-lt"/>
              </a:rPr>
              <a:t>Flagged users spending more than 6 hours daily on screens.</a:t>
            </a:r>
          </a:p>
          <a:p>
            <a:r>
              <a:rPr lang="en-US" b="1" dirty="0">
                <a:latin typeface="+mj-lt"/>
              </a:rPr>
              <a:t>Sleep_Deprived: </a:t>
            </a:r>
            <a:r>
              <a:rPr lang="en-US" dirty="0">
                <a:latin typeface="+mj-lt"/>
              </a:rPr>
              <a:t>Identified users sleeping less than 6 hours.</a:t>
            </a:r>
          </a:p>
          <a:p>
            <a:r>
              <a:rPr lang="en-US" b="1" dirty="0">
                <a:latin typeface="+mj-lt"/>
              </a:rPr>
              <a:t>LateNight_Sleep_Risk: </a:t>
            </a:r>
            <a:r>
              <a:rPr lang="en-US" dirty="0">
                <a:latin typeface="+mj-lt"/>
              </a:rPr>
              <a:t>Combined late-night activity with sleep deprivation.</a:t>
            </a:r>
          </a:p>
          <a:p>
            <a:r>
              <a:rPr lang="en-US" b="1" dirty="0">
                <a:latin typeface="+mj-lt"/>
              </a:rPr>
              <a:t>Passive_Usage_Risk: </a:t>
            </a:r>
            <a:r>
              <a:rPr lang="en-US" dirty="0">
                <a:latin typeface="+mj-lt"/>
              </a:rPr>
              <a:t>Captured risk from passive scrolling behavior.</a:t>
            </a:r>
          </a:p>
          <a:p>
            <a:r>
              <a:rPr lang="en-US" b="1" dirty="0">
                <a:latin typeface="+mj-lt"/>
              </a:rPr>
              <a:t>Social_Comparison_Risk: </a:t>
            </a:r>
            <a:r>
              <a:rPr lang="en-US" dirty="0">
                <a:latin typeface="+mj-lt"/>
              </a:rPr>
              <a:t>Represented exposure to comparison-driven content.</a:t>
            </a:r>
          </a:p>
          <a:p>
            <a:r>
              <a:rPr lang="en-US" b="1" dirty="0">
                <a:latin typeface="+mj-lt"/>
              </a:rPr>
              <a:t>High_Mental_Health_Risk (Target): </a:t>
            </a:r>
            <a:r>
              <a:rPr lang="en-US" dirty="0">
                <a:latin typeface="+mj-lt"/>
              </a:rPr>
              <a:t>Flagged users with moderate-to-severe anxiety or depression scores.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These features converted </a:t>
            </a:r>
            <a:r>
              <a:rPr lang="en-US" b="1" dirty="0">
                <a:latin typeface="+mj-lt"/>
              </a:rPr>
              <a:t>raw digital behavior into interpretable mental health risk signals</a:t>
            </a:r>
            <a:r>
              <a:rPr lang="en-US" dirty="0">
                <a:latin typeface="+mj-lt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5037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3891E-3ED0-915D-BD60-A89E1A657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112295"/>
            <a:ext cx="10691265" cy="1307592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AI Innovation &amp; Insight Generation: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FD7C9-91F1-1B38-8078-E4507E63D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36295"/>
            <a:ext cx="10790730" cy="570296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5000" b="1" dirty="0">
                <a:latin typeface="+mj-lt"/>
              </a:rPr>
              <a:t>What makes this project “AI” and not just SQL?</a:t>
            </a:r>
            <a:endParaRPr lang="en-US" sz="5000" dirty="0">
              <a:latin typeface="+mj-lt"/>
            </a:endParaRPr>
          </a:p>
          <a:p>
            <a:r>
              <a:rPr lang="en-US" sz="5000" dirty="0">
                <a:latin typeface="+mj-lt"/>
              </a:rPr>
              <a:t>Instead of only reporting mental health statistics, I </a:t>
            </a:r>
            <a:r>
              <a:rPr lang="en-US" sz="5000" b="1" dirty="0">
                <a:latin typeface="+mj-lt"/>
              </a:rPr>
              <a:t>designed behavioral risk signals</a:t>
            </a:r>
            <a:r>
              <a:rPr lang="en-US" sz="5000" dirty="0">
                <a:latin typeface="+mj-lt"/>
              </a:rPr>
              <a:t> from raw social media usage data.</a:t>
            </a:r>
          </a:p>
          <a:p>
            <a:r>
              <a:rPr lang="en-US" sz="5000" dirty="0">
                <a:latin typeface="+mj-lt"/>
              </a:rPr>
              <a:t>I transformed </a:t>
            </a:r>
            <a:r>
              <a:rPr lang="en-US" sz="5000" b="1" dirty="0">
                <a:latin typeface="+mj-lt"/>
              </a:rPr>
              <a:t>daily habits</a:t>
            </a:r>
            <a:r>
              <a:rPr lang="en-US" sz="5000" dirty="0">
                <a:latin typeface="+mj-lt"/>
              </a:rPr>
              <a:t> (screen time, sleep, late-night usage, activity type) into </a:t>
            </a:r>
            <a:r>
              <a:rPr lang="en-US" sz="5000" b="1" dirty="0">
                <a:latin typeface="+mj-lt"/>
              </a:rPr>
              <a:t>risk indicators</a:t>
            </a:r>
            <a:r>
              <a:rPr lang="en-US" sz="5000" dirty="0">
                <a:latin typeface="+mj-lt"/>
              </a:rPr>
              <a:t>.</a:t>
            </a:r>
          </a:p>
          <a:p>
            <a:r>
              <a:rPr lang="en-US" sz="5000" dirty="0">
                <a:latin typeface="+mj-lt"/>
              </a:rPr>
              <a:t>These features helped uncover </a:t>
            </a:r>
            <a:r>
              <a:rPr lang="en-US" sz="5000" b="1" dirty="0">
                <a:latin typeface="+mj-lt"/>
              </a:rPr>
              <a:t>hidden behavioral patterns</a:t>
            </a:r>
            <a:r>
              <a:rPr lang="en-US" sz="5000" dirty="0">
                <a:latin typeface="+mj-lt"/>
              </a:rPr>
              <a:t>, not obvious from raw data alone.</a:t>
            </a:r>
          </a:p>
          <a:p>
            <a:pPr marL="0" indent="0">
              <a:buNone/>
            </a:pPr>
            <a:endParaRPr lang="en-US" sz="5000" b="1" dirty="0">
              <a:latin typeface="+mj-lt"/>
            </a:endParaRPr>
          </a:p>
          <a:p>
            <a:pPr marL="0" indent="0">
              <a:buNone/>
            </a:pPr>
            <a:r>
              <a:rPr lang="en-US" sz="5000" b="1" dirty="0">
                <a:latin typeface="+mj-lt"/>
              </a:rPr>
              <a:t>Key AI-driven insights generated:</a:t>
            </a:r>
            <a:endParaRPr lang="en-US" sz="5000" dirty="0">
              <a:latin typeface="+mj-lt"/>
            </a:endParaRPr>
          </a:p>
          <a:p>
            <a:r>
              <a:rPr lang="en-US" sz="5000" dirty="0">
                <a:latin typeface="+mj-lt"/>
              </a:rPr>
              <a:t>High screen time + sleep deprivation strongly correlates with higher anxiety and depression scores.</a:t>
            </a:r>
          </a:p>
          <a:p>
            <a:r>
              <a:rPr lang="en-US" sz="5000" dirty="0">
                <a:latin typeface="+mj-lt"/>
              </a:rPr>
              <a:t>Late-night social media usage amplifies mental health risk.</a:t>
            </a:r>
          </a:p>
          <a:p>
            <a:r>
              <a:rPr lang="en-US" sz="5000" dirty="0">
                <a:latin typeface="+mj-lt"/>
              </a:rPr>
              <a:t>Passive consumption and social comparison increase anxiety levels.</a:t>
            </a:r>
          </a:p>
          <a:p>
            <a:r>
              <a:rPr lang="en-US" sz="5000" dirty="0">
                <a:latin typeface="+mj-lt"/>
              </a:rPr>
              <a:t>Gender-based risk distribution highlights different behavioral impacts.</a:t>
            </a:r>
          </a:p>
          <a:p>
            <a:pPr marL="0" indent="0">
              <a:buNone/>
            </a:pPr>
            <a:endParaRPr lang="en-US" sz="5000" b="1" dirty="0">
              <a:latin typeface="+mj-lt"/>
            </a:endParaRPr>
          </a:p>
          <a:p>
            <a:pPr marL="0" indent="0">
              <a:buNone/>
            </a:pPr>
            <a:r>
              <a:rPr lang="en-US" sz="5000" b="1" dirty="0">
                <a:latin typeface="+mj-lt"/>
              </a:rPr>
              <a:t>Innovation here is feature engineering + insight generation from behavior</a:t>
            </a:r>
            <a:r>
              <a:rPr lang="en-US" sz="5000" dirty="0">
                <a:latin typeface="+mj-lt"/>
              </a:rPr>
              <a:t>, not just prediction.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7218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7F373-7475-0425-4A41-043CAA36E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53979"/>
          </a:xfrm>
        </p:spPr>
        <p:txBody>
          <a:bodyPr/>
          <a:lstStyle/>
          <a:p>
            <a:r>
              <a:rPr lang="en-IN" dirty="0"/>
              <a:t>Model Selection &amp; Technical Reasoning: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7DD6C-7210-AF3C-B5B1-27FF2BDEA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68379"/>
            <a:ext cx="10945933" cy="50693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Why this model? Why not something else?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I chose </a:t>
            </a:r>
            <a:r>
              <a:rPr lang="en-US" b="1" dirty="0">
                <a:latin typeface="+mj-lt"/>
              </a:rPr>
              <a:t>Random Forest Classifier</a:t>
            </a:r>
            <a:r>
              <a:rPr lang="en-US" dirty="0">
                <a:latin typeface="+mj-lt"/>
              </a:rPr>
              <a:t> because:</a:t>
            </a:r>
          </a:p>
          <a:p>
            <a:pPr lvl="1"/>
            <a:r>
              <a:rPr lang="en-US" sz="2000" dirty="0">
                <a:latin typeface="+mj-lt"/>
              </a:rPr>
              <a:t>It handles </a:t>
            </a:r>
            <a:r>
              <a:rPr lang="en-US" sz="2000" b="1" dirty="0">
                <a:latin typeface="+mj-lt"/>
              </a:rPr>
              <a:t>non-linear relationships</a:t>
            </a:r>
            <a:r>
              <a:rPr lang="en-US" sz="2000" dirty="0">
                <a:latin typeface="+mj-lt"/>
              </a:rPr>
              <a:t> well.</a:t>
            </a:r>
          </a:p>
          <a:p>
            <a:pPr lvl="1"/>
            <a:r>
              <a:rPr lang="en-US" sz="2000" dirty="0">
                <a:latin typeface="+mj-lt"/>
              </a:rPr>
              <a:t>Works effectively with </a:t>
            </a:r>
            <a:r>
              <a:rPr lang="en-US" sz="2000" b="1" dirty="0">
                <a:latin typeface="+mj-lt"/>
              </a:rPr>
              <a:t>behavioral and categorical features.</a:t>
            </a:r>
            <a:endParaRPr lang="en-US" sz="2000" dirty="0">
              <a:latin typeface="+mj-lt"/>
            </a:endParaRPr>
          </a:p>
          <a:p>
            <a:pPr lvl="1"/>
            <a:r>
              <a:rPr lang="en-US" sz="2000" dirty="0">
                <a:latin typeface="+mj-lt"/>
              </a:rPr>
              <a:t>Is robust to noise and feature interactions.</a:t>
            </a:r>
            <a:endParaRPr lang="en-US" b="1" dirty="0">
              <a:latin typeface="+mj-lt"/>
            </a:endParaRPr>
          </a:p>
          <a:p>
            <a:pPr marL="0" indent="0">
              <a:buNone/>
            </a:pPr>
            <a:r>
              <a:rPr lang="en-US" b="1" dirty="0">
                <a:latin typeface="+mj-lt"/>
              </a:rPr>
              <a:t>Technical decisions: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Used </a:t>
            </a:r>
            <a:r>
              <a:rPr lang="en-US" b="1" dirty="0">
                <a:latin typeface="+mj-lt"/>
              </a:rPr>
              <a:t>Spark ML Pipeline</a:t>
            </a:r>
            <a:r>
              <a:rPr lang="en-US" dirty="0">
                <a:latin typeface="+mj-lt"/>
              </a:rPr>
              <a:t> for scalability.</a:t>
            </a:r>
          </a:p>
          <a:p>
            <a:r>
              <a:rPr lang="en-US" dirty="0">
                <a:latin typeface="+mj-lt"/>
              </a:rPr>
              <a:t>Feature vectorization using Vector Assembler.</a:t>
            </a:r>
          </a:p>
          <a:p>
            <a:r>
              <a:rPr lang="en-US" dirty="0">
                <a:latin typeface="+mj-lt"/>
              </a:rPr>
              <a:t>Binary classification: </a:t>
            </a:r>
            <a:r>
              <a:rPr lang="en-US" i="1" dirty="0">
                <a:latin typeface="+mj-lt"/>
              </a:rPr>
              <a:t>High Mental Health Risk vs Not High Risk.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Trained directly on </a:t>
            </a:r>
            <a:r>
              <a:rPr lang="en-US" b="1" dirty="0">
                <a:latin typeface="+mj-lt"/>
              </a:rPr>
              <a:t>Gold ML features table.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The focus was </a:t>
            </a:r>
            <a:r>
              <a:rPr lang="en-US" b="1" dirty="0">
                <a:latin typeface="+mj-lt"/>
              </a:rPr>
              <a:t>interpretability + scalability</a:t>
            </a:r>
            <a:r>
              <a:rPr lang="en-US" dirty="0">
                <a:latin typeface="+mj-lt"/>
              </a:rPr>
              <a:t>, not just accuracy.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8346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1A0D1-F023-417B-9DA6-55223859D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770021"/>
            <a:ext cx="10691265" cy="737937"/>
          </a:xfrm>
        </p:spPr>
        <p:txBody>
          <a:bodyPr/>
          <a:lstStyle/>
          <a:p>
            <a:r>
              <a:rPr lang="en-IN" dirty="0"/>
              <a:t>Training, Evaluation &amp; Metrics: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B93F8-A7CE-5C07-F33E-69AC7AA30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52337"/>
            <a:ext cx="11138439" cy="52056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How I validated the model?</a:t>
            </a:r>
          </a:p>
          <a:p>
            <a:pPr marL="0" indent="0">
              <a:buNone/>
            </a:pPr>
            <a:r>
              <a:rPr lang="en-IN" dirty="0">
                <a:latin typeface="+mj-lt"/>
              </a:rPr>
              <a:t>Model training and experiments were tracked using </a:t>
            </a:r>
            <a:r>
              <a:rPr lang="en-IN" b="1" dirty="0">
                <a:latin typeface="+mj-lt"/>
              </a:rPr>
              <a:t>Mlflow </a:t>
            </a:r>
            <a:r>
              <a:rPr lang="en-IN" dirty="0">
                <a:latin typeface="+mj-lt"/>
              </a:rPr>
              <a:t>and I logged key evaluation metrics:</a:t>
            </a:r>
          </a:p>
          <a:p>
            <a:r>
              <a:rPr lang="en-IN" b="1" dirty="0">
                <a:latin typeface="+mj-lt"/>
              </a:rPr>
              <a:t>Accuracy</a:t>
            </a:r>
            <a:r>
              <a:rPr lang="en-IN" dirty="0">
                <a:latin typeface="+mj-lt"/>
              </a:rPr>
              <a:t> –Mental health predictions require </a:t>
            </a:r>
            <a:r>
              <a:rPr lang="en-IN" b="1" dirty="0">
                <a:latin typeface="+mj-lt"/>
              </a:rPr>
              <a:t>balanced evaluation</a:t>
            </a:r>
            <a:r>
              <a:rPr lang="en-IN" dirty="0">
                <a:latin typeface="+mj-lt"/>
              </a:rPr>
              <a:t>.</a:t>
            </a:r>
          </a:p>
          <a:p>
            <a:r>
              <a:rPr lang="en-IN" b="1" dirty="0">
                <a:latin typeface="+mj-lt"/>
              </a:rPr>
              <a:t>AUC</a:t>
            </a:r>
            <a:r>
              <a:rPr lang="en-IN" dirty="0">
                <a:latin typeface="+mj-lt"/>
              </a:rPr>
              <a:t> –AUC helps avoid misleading accuracy in imbalanced datasets.</a:t>
            </a:r>
          </a:p>
          <a:p>
            <a:r>
              <a:rPr lang="en-IN" b="1" dirty="0">
                <a:latin typeface="+mj-lt"/>
              </a:rPr>
              <a:t>Confusion Matrix</a:t>
            </a:r>
            <a:r>
              <a:rPr lang="en-IN" dirty="0">
                <a:latin typeface="+mj-lt"/>
              </a:rPr>
              <a:t> – false positives vs false negatives- supports explainability and trust.</a:t>
            </a:r>
          </a:p>
          <a:p>
            <a:pPr marL="0" indent="0">
              <a:buNone/>
            </a:pPr>
            <a:endParaRPr lang="en-IN" b="1" dirty="0">
              <a:latin typeface="+mj-lt"/>
            </a:endParaRPr>
          </a:p>
          <a:p>
            <a:pPr marL="0" indent="0">
              <a:buNone/>
            </a:pPr>
            <a:r>
              <a:rPr lang="en-IN" b="1" dirty="0">
                <a:latin typeface="+mj-lt"/>
              </a:rPr>
              <a:t>Outcome:</a:t>
            </a:r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Model achieved stable performance.</a:t>
            </a:r>
          </a:p>
          <a:p>
            <a:r>
              <a:rPr lang="en-IN" dirty="0">
                <a:latin typeface="+mj-lt"/>
              </a:rPr>
              <a:t>Predictions stored in a </a:t>
            </a:r>
            <a:r>
              <a:rPr lang="en-IN" b="1" dirty="0">
                <a:latin typeface="+mj-lt"/>
              </a:rPr>
              <a:t>Gold prediction table.</a:t>
            </a:r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Metrics and model version fully reproducible via Mlflow.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6236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4B38A-4B19-8DED-54FA-80E9DE966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770020"/>
            <a:ext cx="10691265" cy="1090863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↔ AI Workflow (Lakehouse Integration):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7B294-10D1-8677-148A-4C3222D92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2165684"/>
            <a:ext cx="10691265" cy="4868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+mj-lt"/>
              </a:rPr>
              <a:t>Data flows through:</a:t>
            </a:r>
          </a:p>
          <a:p>
            <a:pPr lvl="1"/>
            <a:r>
              <a:rPr lang="en-IN" sz="2000" b="1" dirty="0">
                <a:latin typeface="+mj-lt"/>
              </a:rPr>
              <a:t>Bronze</a:t>
            </a:r>
            <a:r>
              <a:rPr lang="en-IN" sz="2000" dirty="0">
                <a:latin typeface="+mj-lt"/>
              </a:rPr>
              <a:t> → Raw ingestion (Delta).</a:t>
            </a:r>
          </a:p>
          <a:p>
            <a:pPr lvl="1"/>
            <a:r>
              <a:rPr lang="en-IN" sz="2000" b="1" dirty="0">
                <a:latin typeface="+mj-lt"/>
              </a:rPr>
              <a:t>Silver</a:t>
            </a:r>
            <a:r>
              <a:rPr lang="en-IN" sz="2000" dirty="0">
                <a:latin typeface="+mj-lt"/>
              </a:rPr>
              <a:t> → Cleaned &amp; feature-engineered data.</a:t>
            </a:r>
          </a:p>
          <a:p>
            <a:pPr lvl="1"/>
            <a:r>
              <a:rPr lang="en-IN" sz="2000" b="1" dirty="0">
                <a:latin typeface="+mj-lt"/>
              </a:rPr>
              <a:t>Gold</a:t>
            </a:r>
            <a:r>
              <a:rPr lang="en-IN" sz="2000" dirty="0">
                <a:latin typeface="+mj-lt"/>
              </a:rPr>
              <a:t> → Analytics tables &amp; ML-ready datasets.</a:t>
            </a:r>
          </a:p>
          <a:p>
            <a:pPr marL="0" indent="0">
              <a:buNone/>
            </a:pPr>
            <a:r>
              <a:rPr lang="en-IN" b="1" dirty="0">
                <a:latin typeface="+mj-lt"/>
              </a:rPr>
              <a:t>AI integration: </a:t>
            </a:r>
            <a:r>
              <a:rPr lang="en-IN" dirty="0">
                <a:latin typeface="+mj-lt"/>
              </a:rPr>
              <a:t>ML model reads directly from </a:t>
            </a:r>
            <a:r>
              <a:rPr lang="en-IN" b="1" dirty="0">
                <a:latin typeface="+mj-lt"/>
              </a:rPr>
              <a:t>Gold Delta tables.</a:t>
            </a:r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Predictions written back to </a:t>
            </a:r>
            <a:r>
              <a:rPr lang="en-IN" b="1" dirty="0">
                <a:latin typeface="+mj-lt"/>
              </a:rPr>
              <a:t>Gold prediction table.</a:t>
            </a:r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Same data serves: SQL Analytics | Dashboards | ML training | Model inference.</a:t>
            </a:r>
          </a:p>
          <a:p>
            <a:pPr marL="0" indent="0">
              <a:buNone/>
            </a:pPr>
            <a:endParaRPr lang="en-IN" dirty="0">
              <a:latin typeface="+mj-lt"/>
            </a:endParaRPr>
          </a:p>
          <a:p>
            <a:pPr marL="0" indent="0">
              <a:buNone/>
            </a:pPr>
            <a:r>
              <a:rPr lang="en-IN" dirty="0">
                <a:latin typeface="+mj-lt"/>
              </a:rPr>
              <a:t>This avoids data duplication and ensures </a:t>
            </a:r>
            <a:r>
              <a:rPr lang="en-IN" b="1" dirty="0">
                <a:latin typeface="+mj-lt"/>
              </a:rPr>
              <a:t>single source of truth</a:t>
            </a:r>
            <a:r>
              <a:rPr lang="en-IN" dirty="0">
                <a:latin typeface="+mj-lt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2029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DFB32-23E8-7F0A-6505-0B0FCBBBA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705852"/>
            <a:ext cx="10691265" cy="802106"/>
          </a:xfrm>
        </p:spPr>
        <p:txBody>
          <a:bodyPr/>
          <a:lstStyle/>
          <a:p>
            <a:r>
              <a:rPr lang="en-IN" dirty="0"/>
              <a:t>Business Impact &amp; Practical Use: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5DBD5-ED2F-C7D8-61D0-FCAAFE962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363579"/>
            <a:ext cx="10691265" cy="549442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latin typeface="+mj-lt"/>
            </a:endParaRPr>
          </a:p>
          <a:p>
            <a:pPr marL="0" indent="0">
              <a:buNone/>
            </a:pPr>
            <a:r>
              <a:rPr lang="en-US" b="1" dirty="0">
                <a:latin typeface="+mj-lt"/>
              </a:rPr>
              <a:t>Why this project matters in the real world?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Enables </a:t>
            </a:r>
            <a:r>
              <a:rPr lang="en-US" b="1" dirty="0">
                <a:latin typeface="+mj-lt"/>
              </a:rPr>
              <a:t>early detection</a:t>
            </a:r>
            <a:r>
              <a:rPr lang="en-US" dirty="0">
                <a:latin typeface="+mj-lt"/>
              </a:rPr>
              <a:t> of mental health risk based on behavior and helps platforms:</a:t>
            </a:r>
          </a:p>
          <a:p>
            <a:pPr lvl="1"/>
            <a:r>
              <a:rPr lang="en-US" sz="2000" dirty="0">
                <a:latin typeface="+mj-lt"/>
              </a:rPr>
              <a:t>Identify high-risk users proactively.</a:t>
            </a:r>
          </a:p>
          <a:p>
            <a:pPr lvl="1"/>
            <a:r>
              <a:rPr lang="en-US" sz="2000" dirty="0">
                <a:latin typeface="+mj-lt"/>
              </a:rPr>
              <a:t>Design targeted well-being interventions.</a:t>
            </a:r>
          </a:p>
          <a:p>
            <a:pPr lvl="1"/>
            <a:r>
              <a:rPr lang="en-US" sz="2000" dirty="0">
                <a:latin typeface="+mj-lt"/>
              </a:rPr>
              <a:t>Monitor impact of platform usage patterns.</a:t>
            </a:r>
          </a:p>
          <a:p>
            <a:pPr lvl="1"/>
            <a:endParaRPr lang="en-US" b="1" dirty="0">
              <a:latin typeface="+mj-lt"/>
            </a:endParaRPr>
          </a:p>
          <a:p>
            <a:pPr marL="0" indent="0">
              <a:buNone/>
            </a:pPr>
            <a:r>
              <a:rPr lang="en-US" b="1" dirty="0">
                <a:latin typeface="+mj-lt"/>
              </a:rPr>
              <a:t>Practical applications: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Mental health monitoring dashboards.</a:t>
            </a:r>
          </a:p>
          <a:p>
            <a:r>
              <a:rPr lang="en-US" dirty="0">
                <a:latin typeface="+mj-lt"/>
              </a:rPr>
              <a:t>Risk-based user segmentation.</a:t>
            </a:r>
          </a:p>
          <a:p>
            <a:r>
              <a:rPr lang="en-US" dirty="0">
                <a:latin typeface="+mj-lt"/>
              </a:rPr>
              <a:t>Responsible AI use in social platforms.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9632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FADB3-47FB-7B08-41CA-DBBD50A16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098" y="1018834"/>
            <a:ext cx="10691265" cy="3739896"/>
          </a:xfrm>
        </p:spPr>
        <p:txBody>
          <a:bodyPr/>
          <a:lstStyle/>
          <a:p>
            <a:r>
              <a:rPr lang="en-US" b="1" dirty="0"/>
              <a:t>Scalable &amp; production-ready:</a:t>
            </a:r>
            <a:endParaRPr lang="en-US" dirty="0"/>
          </a:p>
          <a:p>
            <a:r>
              <a:rPr lang="en-US" dirty="0"/>
              <a:t>Automated jobs.</a:t>
            </a:r>
          </a:p>
          <a:p>
            <a:r>
              <a:rPr lang="en-US" dirty="0"/>
              <a:t>Governed data access via Unity Catalog.</a:t>
            </a:r>
          </a:p>
          <a:p>
            <a:r>
              <a:rPr lang="en-US" dirty="0"/>
              <a:t>ML lifecycle managed with Mlflow.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1026" name="Picture 2" descr="Thank You Gif Thank You Notes - Earth And Cup Thank You Song">
            <a:extLst>
              <a:ext uri="{FF2B5EF4-FFF2-40B4-BE49-F238E27FC236}">
                <a16:creationId xmlns:a16="http://schemas.microsoft.com/office/drawing/2014/main" id="{8EE05746-742F-502D-C835-911DD62EE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392" y="1860884"/>
            <a:ext cx="6858000" cy="5494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527550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854</Words>
  <Application>Microsoft Office PowerPoint</Application>
  <PresentationFormat>Widescreen</PresentationFormat>
  <Paragraphs>99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Calisto MT</vt:lpstr>
      <vt:lpstr>Univers Condensed</vt:lpstr>
      <vt:lpstr>ChronicleVTI</vt:lpstr>
      <vt:lpstr>MENTAL HEALTH RISK ANALYTICS</vt:lpstr>
      <vt:lpstr>Problem Definition:</vt:lpstr>
      <vt:lpstr>Data Understanding &amp; Feature Engineering:</vt:lpstr>
      <vt:lpstr>PowerPoint Presentation</vt:lpstr>
      <vt:lpstr>Created behavioral risk features to translate raw usage into meaningful signals: </vt:lpstr>
      <vt:lpstr> AI Innovation &amp; Insight Generation:</vt:lpstr>
      <vt:lpstr>Model Selection &amp; Technical Reasoning:</vt:lpstr>
      <vt:lpstr>Training, Evaluation &amp; Metrics:</vt:lpstr>
      <vt:lpstr>Database ↔ AI Workflow (Lakehouse Integration):</vt:lpstr>
      <vt:lpstr>Business Impact &amp; Practical Use: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 Patel</dc:creator>
  <cp:lastModifiedBy>Amir Patel</cp:lastModifiedBy>
  <cp:revision>2</cp:revision>
  <dcterms:created xsi:type="dcterms:W3CDTF">2026-01-31T07:57:52Z</dcterms:created>
  <dcterms:modified xsi:type="dcterms:W3CDTF">2026-01-31T17:16:42Z</dcterms:modified>
</cp:coreProperties>
</file>